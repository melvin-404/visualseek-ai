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5"/>
  </p:notesMasterIdLst>
  <p:sldIdLst>
    <p:sldId id="483" r:id="rId2"/>
    <p:sldId id="484" r:id="rId3"/>
    <p:sldId id="470" r:id="rId4"/>
    <p:sldId id="488" r:id="rId5"/>
    <p:sldId id="478" r:id="rId6"/>
    <p:sldId id="482" r:id="rId7"/>
    <p:sldId id="489" r:id="rId8"/>
    <p:sldId id="486" r:id="rId9"/>
    <p:sldId id="490" r:id="rId10"/>
    <p:sldId id="485" r:id="rId11"/>
    <p:sldId id="487" r:id="rId12"/>
    <p:sldId id="473" r:id="rId13"/>
    <p:sldId id="468" r:id="rId14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102" d="100"/>
          <a:sy n="102" d="100"/>
        </p:scale>
        <p:origin x="1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188090" y="1690689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Shaik Salma Begum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1065" y="3870716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AI GPU Summer Internship Program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Asif Mohammed H.B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Dr.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 Raju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Dr. Bhuvaneshwari Patil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 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1800" dirty="0" err="1"/>
              <a:t>VisualSeek</a:t>
            </a:r>
            <a:r>
              <a:rPr lang="en-IN" sz="1800" dirty="0"/>
              <a:t> AI</a:t>
            </a:r>
            <a:br>
              <a:rPr lang="en-IN" sz="1800" dirty="0"/>
            </a:br>
            <a:r>
              <a:rPr lang="en-IN" sz="1800" i="1" dirty="0"/>
              <a:t>AI-Powered Natural Language Video Search &amp; Intelligent Surveillance Analytics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46841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Melvin James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20241CSE0847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27023" y="274638"/>
            <a:ext cx="10753777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1264" y="94202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17" y="252699"/>
            <a:ext cx="10515600" cy="679904"/>
          </a:xfrm>
        </p:spPr>
        <p:txBody>
          <a:bodyPr/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17" y="1190006"/>
            <a:ext cx="11221387" cy="4193176"/>
          </a:xfrm>
        </p:spPr>
        <p:txBody>
          <a:bodyPr/>
          <a:lstStyle/>
          <a:p>
            <a:pPr lvl="0"/>
            <a:r>
              <a:rPr lang="en-IN" sz="2400" b="1" dirty="0"/>
              <a:t>Industry-oriented internship focused on Artificial Intelligence and GPU-Accelerated Computing.</a:t>
            </a:r>
            <a:r>
              <a:rPr lang="en-IN" sz="2400" dirty="0"/>
              <a:t> </a:t>
            </a:r>
          </a:p>
          <a:p>
            <a:pPr lvl="0"/>
            <a:r>
              <a:rPr lang="en-IN" sz="2400" dirty="0"/>
              <a:t>Provided hands-on training using the </a:t>
            </a:r>
            <a:r>
              <a:rPr lang="en-IN" sz="2400" b="1" dirty="0"/>
              <a:t>NVIDIA H200 Tensor Core GPU</a:t>
            </a:r>
            <a:r>
              <a:rPr lang="en-IN" sz="2400" dirty="0"/>
              <a:t> through a cloud-based server environment. </a:t>
            </a:r>
          </a:p>
          <a:p>
            <a:pPr lvl="0"/>
            <a:r>
              <a:rPr lang="en-IN" sz="2400" dirty="0"/>
              <a:t>Covered modern AI technologies including </a:t>
            </a:r>
            <a:r>
              <a:rPr lang="en-IN" sz="2400" b="1" dirty="0"/>
              <a:t>Machine Learning, Deep Learning, Computer Vision, Generative AI, and Large Language Models (LLMs).</a:t>
            </a:r>
            <a:r>
              <a:rPr lang="en-IN" sz="2400" dirty="0"/>
              <a:t> </a:t>
            </a:r>
          </a:p>
          <a:p>
            <a:pPr lvl="0"/>
            <a:r>
              <a:rPr lang="en-IN" sz="2400" dirty="0"/>
              <a:t>Combined theoretical learning with practical implementation through coding sessions and AI development tools. </a:t>
            </a:r>
          </a:p>
          <a:p>
            <a:pPr lvl="0"/>
            <a:r>
              <a:rPr lang="en-IN" sz="2400" b="1" dirty="0"/>
              <a:t>Concluded with the development and presentation of an AI-based capstone project.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33AA-08C9-F6FB-D1A6-E4F36A22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8EF2-7DF8-9B56-4212-C7BFB21E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17" y="252699"/>
            <a:ext cx="10515600" cy="679904"/>
          </a:xfrm>
        </p:spPr>
        <p:txBody>
          <a:bodyPr/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41ED-E499-A26F-C7FA-81C2BC11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17" y="1407362"/>
            <a:ext cx="11221387" cy="4193176"/>
          </a:xfrm>
        </p:spPr>
        <p:txBody>
          <a:bodyPr/>
          <a:lstStyle/>
          <a:p>
            <a:pPr lvl="0"/>
            <a:r>
              <a:rPr lang="en-IN" sz="2400" dirty="0"/>
              <a:t>Covered modern AI domains including </a:t>
            </a:r>
            <a:r>
              <a:rPr lang="en-IN" sz="2400" b="1" dirty="0"/>
              <a:t>Machine Learning, Deep Learning, Computer Vision, Large Language Models (LLMs), and Generative AI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Included practical exposure to </a:t>
            </a:r>
            <a:r>
              <a:rPr lang="en-IN" sz="2400" b="1" dirty="0"/>
              <a:t>Kubernetes, </a:t>
            </a:r>
            <a:r>
              <a:rPr lang="en-IN" sz="2400" b="1" dirty="0" err="1"/>
              <a:t>JupyterLab</a:t>
            </a:r>
            <a:r>
              <a:rPr lang="en-IN" sz="2400" b="1" dirty="0"/>
              <a:t>, </a:t>
            </a:r>
            <a:r>
              <a:rPr lang="en-IN" sz="2400" b="1" dirty="0" err="1"/>
              <a:t>PyTorch</a:t>
            </a:r>
            <a:r>
              <a:rPr lang="en-IN" sz="2400" b="1" dirty="0"/>
              <a:t>, CUDA, OpenCV, YOLO, and Prompt Engineering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Focused on developing industry-ready skills through hands-on exercises and real-world AI workflows. </a:t>
            </a:r>
          </a:p>
          <a:p>
            <a:pPr lvl="0"/>
            <a:r>
              <a:rPr lang="en-IN" sz="2400" dirty="0"/>
              <a:t>Emphasized cloud-based GPU computing, model development, and AI application deployment.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0CCD-0812-E1A5-A85D-4FE545C1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521687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063" y="365125"/>
            <a:ext cx="10686738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504" y="1272487"/>
            <a:ext cx="10952814" cy="4058194"/>
          </a:xfrm>
        </p:spPr>
        <p:txBody>
          <a:bodyPr/>
          <a:lstStyle/>
          <a:p>
            <a:r>
              <a:rPr lang="en-IN" sz="2400" dirty="0"/>
              <a:t>Worked in the domain of </a:t>
            </a:r>
            <a:r>
              <a:rPr lang="en-IN" sz="2400" b="1" dirty="0"/>
              <a:t>Artificial Intelligence (AI)</a:t>
            </a:r>
            <a:r>
              <a:rPr lang="en-IN" sz="2400" dirty="0"/>
              <a:t> with emphasis on </a:t>
            </a:r>
            <a:r>
              <a:rPr lang="en-IN" sz="2400" b="1" dirty="0"/>
              <a:t>GPU-Accelerated Computing</a:t>
            </a:r>
            <a:r>
              <a:rPr lang="en-IN" sz="2400" dirty="0"/>
              <a:t> using the </a:t>
            </a:r>
            <a:r>
              <a:rPr lang="en-IN" sz="2400" b="1" dirty="0"/>
              <a:t>NVIDIA H200 Tensor Core GPU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Explored </a:t>
            </a:r>
            <a:r>
              <a:rPr lang="en-IN" sz="2400" b="1" dirty="0"/>
              <a:t>Machine Learning, Deep Learning, Computer Vision, Large Language Models (LLMs), and Generative AI</a:t>
            </a:r>
            <a:r>
              <a:rPr lang="en-IN" sz="2400" dirty="0"/>
              <a:t> through hands-on sessions. </a:t>
            </a:r>
          </a:p>
          <a:p>
            <a:pPr lvl="0"/>
            <a:r>
              <a:rPr lang="en-IN" sz="2400" dirty="0"/>
              <a:t>Gained practical experience with </a:t>
            </a:r>
            <a:r>
              <a:rPr lang="en-IN" sz="2400" b="1" dirty="0" err="1"/>
              <a:t>PyTorch</a:t>
            </a:r>
            <a:r>
              <a:rPr lang="en-IN" sz="2400" b="1" dirty="0"/>
              <a:t>, CUDA, Kubernetes, OpenCV, YOLO, and Prompt Engineering</a:t>
            </a:r>
            <a:r>
              <a:rPr lang="en-IN" sz="2400" dirty="0"/>
              <a:t> for developing AI applications. </a:t>
            </a:r>
          </a:p>
          <a:p>
            <a:pPr lvl="0"/>
            <a:r>
              <a:rPr lang="en-IN" sz="2400" dirty="0"/>
              <a:t>Learned cloud-based AI development, GPU programming, model optimization, and deployment workflows. </a:t>
            </a:r>
          </a:p>
          <a:p>
            <a:pPr lvl="0"/>
            <a:r>
              <a:rPr lang="en-IN" sz="2400" dirty="0"/>
              <a:t>Applied these technologies to solve real-world AI problems through practical implementation and project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0764187" cy="4058194"/>
          </a:xfrm>
        </p:spPr>
        <p:txBody>
          <a:bodyPr/>
          <a:lstStyle/>
          <a:p>
            <a:pPr lvl="0"/>
            <a:r>
              <a:rPr lang="en-IN" sz="2400" dirty="0"/>
              <a:t>Apply </a:t>
            </a:r>
            <a:r>
              <a:rPr lang="en-IN" sz="2400" b="1" dirty="0"/>
              <a:t>Artificial Intelligence and GPU-Accelerated Computing</a:t>
            </a:r>
            <a:r>
              <a:rPr lang="en-IN" sz="2400" dirty="0"/>
              <a:t> concepts to solve real-world surveillance challenges. </a:t>
            </a:r>
          </a:p>
          <a:p>
            <a:pPr lvl="0"/>
            <a:r>
              <a:rPr lang="en-IN" sz="2400" dirty="0"/>
              <a:t>Develop an intelligent surveillance platform capable of </a:t>
            </a:r>
            <a:r>
              <a:rPr lang="en-IN" sz="2400" b="1" dirty="0"/>
              <a:t>real-time object detection and natural language-based video search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Integrate modern AI technologies including </a:t>
            </a:r>
            <a:r>
              <a:rPr lang="en-IN" sz="2400" b="1" dirty="0"/>
              <a:t>Computer Vision, Large Language Models (LLMs), and Semantic Search</a:t>
            </a:r>
            <a:r>
              <a:rPr lang="en-IN" sz="2400" dirty="0"/>
              <a:t> into a unified solution. </a:t>
            </a:r>
          </a:p>
          <a:p>
            <a:pPr lvl="0"/>
            <a:r>
              <a:rPr lang="en-IN" sz="2400" dirty="0"/>
              <a:t>Enhance practical skills in </a:t>
            </a:r>
            <a:r>
              <a:rPr lang="en-IN" sz="2400" b="1" dirty="0" err="1"/>
              <a:t>PyTorch</a:t>
            </a:r>
            <a:r>
              <a:rPr lang="en-IN" sz="2400" b="1" dirty="0"/>
              <a:t>, CUDA, OpenCV, YOLO, and cloud-based AI development</a:t>
            </a:r>
            <a:r>
              <a:rPr lang="en-IN" sz="2400" dirty="0"/>
              <a:t> through hands-on implementation. </a:t>
            </a:r>
          </a:p>
          <a:p>
            <a:pPr lvl="0"/>
            <a:r>
              <a:rPr lang="en-IN" sz="2400" dirty="0"/>
              <a:t>Build a scalable and user-friendly system that improves </a:t>
            </a:r>
            <a:r>
              <a:rPr lang="en-IN" sz="2400" b="1" dirty="0"/>
              <a:t>security monitoring, event retrieval, and surveillance analytics</a:t>
            </a:r>
            <a:r>
              <a:rPr lang="en-IN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56F0AE-CBEA-44A5-AD9E-139DE3A4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D9A-21AC-6ED4-A3D7-FE486D2944AB}"/>
              </a:ext>
            </a:extLst>
          </p:cNvPr>
          <p:cNvSpPr txBox="1"/>
          <p:nvPr/>
        </p:nvSpPr>
        <p:spPr>
          <a:xfrm>
            <a:off x="560258" y="273492"/>
            <a:ext cx="6097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DBD6E-D7E4-5E15-BC14-65A7CA939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87" y="858267"/>
            <a:ext cx="7110425" cy="439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37358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57" y="290174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779177" cy="4058194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dirty="0"/>
              <a:t>AI Processing Pipeline:</a:t>
            </a:r>
          </a:p>
          <a:p>
            <a:r>
              <a:rPr lang="en-IN" sz="2000" dirty="0"/>
              <a:t>The </a:t>
            </a:r>
            <a:r>
              <a:rPr lang="en-IN" sz="2000" b="1" dirty="0" err="1"/>
              <a:t>VisualSeek</a:t>
            </a:r>
            <a:r>
              <a:rPr lang="en-IN" sz="2000" b="1" dirty="0"/>
              <a:t> AI</a:t>
            </a:r>
            <a:r>
              <a:rPr lang="en-IN" sz="2000" dirty="0"/>
              <a:t> system uses an AI-based pipeline to convert CCTV footage into intelligent and searchable surveillance data.</a:t>
            </a:r>
          </a:p>
          <a:p>
            <a:pPr marL="0" indent="0">
              <a:buNone/>
            </a:pPr>
            <a:r>
              <a:rPr lang="en-IN" sz="2000" b="1" dirty="0"/>
              <a:t>     </a:t>
            </a:r>
            <a:r>
              <a:rPr lang="en-IN" sz="2000" b="1" u="sng" dirty="0"/>
              <a:t>Workflow</a:t>
            </a:r>
          </a:p>
          <a:p>
            <a:pPr marL="0" indent="0">
              <a:buNone/>
            </a:pPr>
            <a:r>
              <a:rPr lang="en-IN" sz="2000" b="1" dirty="0"/>
              <a:t>1. Video Capture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  CCTV cameras continuously send video streams to the system. </a:t>
            </a:r>
          </a:p>
          <a:p>
            <a:pPr marL="0" indent="0">
              <a:buNone/>
            </a:pPr>
            <a:r>
              <a:rPr lang="en-IN" sz="2000" b="1" dirty="0"/>
              <a:t>2. Frame Processing</a:t>
            </a:r>
          </a:p>
          <a:p>
            <a:pPr marL="0" indent="0">
              <a:buNone/>
            </a:pPr>
            <a:r>
              <a:rPr lang="en-IN" sz="2000" b="1" dirty="0"/>
              <a:t>  </a:t>
            </a:r>
            <a:r>
              <a:rPr lang="en-IN" sz="2000" dirty="0"/>
              <a:t>The video is divided into individual frames for analysis. </a:t>
            </a:r>
          </a:p>
          <a:p>
            <a:pPr marL="0" indent="0">
              <a:buNone/>
            </a:pPr>
            <a:r>
              <a:rPr lang="en-IN" sz="2000" b="1" dirty="0"/>
              <a:t>3. Object Detection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  YOLO11 detects people, vehicles, and other objects in each frame.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5C54D0-6AB3-20CC-BC7D-CDA62B062A1A}"/>
              </a:ext>
            </a:extLst>
          </p:cNvPr>
          <p:cNvCxnSpPr/>
          <p:nvPr/>
        </p:nvCxnSpPr>
        <p:spPr>
          <a:xfrm>
            <a:off x="936885" y="2435903"/>
            <a:ext cx="194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541F-736A-99CA-3A65-215BCED8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30E2-E192-ADCD-7672-015B0F16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57" y="290174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BDCEE-B7EC-E39B-71DA-8541EF8EE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68" y="1184367"/>
            <a:ext cx="11431249" cy="4058194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dirty="0"/>
              <a:t> Data Processing &amp; Storage:</a:t>
            </a:r>
          </a:p>
          <a:p>
            <a:pPr marL="0" indent="0" algn="just">
              <a:buNone/>
            </a:pPr>
            <a:r>
              <a:rPr lang="en-IN" sz="2000" b="1" dirty="0"/>
              <a:t>4. Attribute Extraction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  The system extracts details such as object type, colour, clothing, and timestamps. </a:t>
            </a:r>
          </a:p>
          <a:p>
            <a:pPr marL="0" indent="0">
              <a:buNone/>
            </a:pPr>
            <a:r>
              <a:rPr lang="en-IN" sz="2000" b="1" dirty="0"/>
              <a:t>5. Metadata &amp; Embedding Generation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  Searchable metadata and AI embeddings are created for every detected object. </a:t>
            </a:r>
          </a:p>
          <a:p>
            <a:pPr marL="0" indent="0">
              <a:buNone/>
            </a:pPr>
            <a:r>
              <a:rPr lang="en-IN" sz="2000" b="1" dirty="0"/>
              <a:t>6. Data Storage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  Metadata is stored in PostgreSQL, while embeddings are stored in Milvus for fast and accurate searching.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7BFA-9707-5CBF-BC43-FFE35054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24315C-F514-D69D-683C-AEFA7F862410}"/>
              </a:ext>
            </a:extLst>
          </p:cNvPr>
          <p:cNvCxnSpPr/>
          <p:nvPr/>
        </p:nvCxnSpPr>
        <p:spPr>
          <a:xfrm>
            <a:off x="703289" y="1356610"/>
            <a:ext cx="217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426059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636" y="365125"/>
            <a:ext cx="10799164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DD384-662F-61DA-2320-2E85B5FBE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589" y="1022344"/>
            <a:ext cx="5736058" cy="322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F81172-4FED-49BB-4EEA-F2D9FB98E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9778" y="1025213"/>
            <a:ext cx="5155124" cy="3222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FFCC13-8977-D504-45AD-F3F72258682A}"/>
              </a:ext>
            </a:extLst>
          </p:cNvPr>
          <p:cNvSpPr txBox="1"/>
          <p:nvPr/>
        </p:nvSpPr>
        <p:spPr>
          <a:xfrm>
            <a:off x="61647" y="4052798"/>
            <a:ext cx="6096000" cy="10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1: Natural Language Search Interface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(Query: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Bike accident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7C056-18C6-84CD-EB27-7A45ED4F809E}"/>
              </a:ext>
            </a:extLst>
          </p:cNvPr>
          <p:cNvSpPr txBox="1"/>
          <p:nvPr/>
        </p:nvSpPr>
        <p:spPr>
          <a:xfrm>
            <a:off x="6240780" y="4375963"/>
            <a:ext cx="6096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2: Natural Language Search Interface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(Query: Yellow car reversing)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08" y="365125"/>
            <a:ext cx="10907492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253331"/>
            <a:ext cx="10515600" cy="4351338"/>
          </a:xfrm>
        </p:spPr>
        <p:txBody>
          <a:bodyPr/>
          <a:lstStyle/>
          <a:p>
            <a:pPr lvl="0"/>
            <a:r>
              <a:rPr lang="en-IN" sz="2400" dirty="0"/>
              <a:t>Successfully applied </a:t>
            </a:r>
            <a:r>
              <a:rPr lang="en-IN" sz="2400" b="1" dirty="0"/>
              <a:t>Artificial Intelligence and GPU-Accelerated Computing</a:t>
            </a:r>
            <a:r>
              <a:rPr lang="en-IN" sz="2400" dirty="0"/>
              <a:t> concepts to develop an intelligent surveillance system. </a:t>
            </a:r>
          </a:p>
          <a:p>
            <a:pPr lvl="0"/>
            <a:r>
              <a:rPr lang="en-IN" sz="2400" dirty="0"/>
              <a:t>Gained practical experience in </a:t>
            </a:r>
            <a:r>
              <a:rPr lang="en-IN" sz="2400" b="1" dirty="0"/>
              <a:t>Computer Vision, Deep Learning, and Natural Language Search</a:t>
            </a:r>
            <a:r>
              <a:rPr lang="en-IN" sz="2400" dirty="0"/>
              <a:t> using modern AI technologies. </a:t>
            </a:r>
          </a:p>
          <a:p>
            <a:pPr lvl="0"/>
            <a:r>
              <a:rPr lang="en-IN" sz="2400" dirty="0"/>
              <a:t>Developed </a:t>
            </a:r>
            <a:r>
              <a:rPr lang="en-IN" sz="2400" b="1" dirty="0" err="1"/>
              <a:t>VisualSeek</a:t>
            </a:r>
            <a:r>
              <a:rPr lang="en-IN" sz="2400" b="1" dirty="0"/>
              <a:t> AI</a:t>
            </a:r>
            <a:r>
              <a:rPr lang="en-IN" sz="2400" dirty="0"/>
              <a:t>, demonstrating real-time object detection, semantic video search, and an interactive surveillance dashboard. </a:t>
            </a:r>
          </a:p>
          <a:p>
            <a:pPr lvl="0"/>
            <a:r>
              <a:rPr lang="en-IN" sz="2400" dirty="0"/>
              <a:t>The internship enhanced technical knowledge, problem-solving skills, and hands-on experience in building real-world AI applications.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8123</TotalTime>
  <Words>756</Words>
  <Application>Microsoft Office PowerPoint</Application>
  <PresentationFormat>Widescreen</PresentationFormat>
  <Paragraphs>93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Objectives of the work</vt:lpstr>
      <vt:lpstr>PowerPoint Presentation</vt:lpstr>
      <vt:lpstr>Methodology Used / Course Description </vt:lpstr>
      <vt:lpstr>Methodology Used / Course Description </vt:lpstr>
      <vt:lpstr>Results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Melvin James</cp:lastModifiedBy>
  <cp:revision>948</cp:revision>
  <cp:lastPrinted>2018-07-24T06:37:20Z</cp:lastPrinted>
  <dcterms:created xsi:type="dcterms:W3CDTF">2018-06-07T04:06:17Z</dcterms:created>
  <dcterms:modified xsi:type="dcterms:W3CDTF">2026-08-23T17:29:39Z</dcterms:modified>
</cp:coreProperties>
</file>